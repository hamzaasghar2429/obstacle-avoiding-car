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3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6F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368" autoAdjust="0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67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4372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1910" y="1885950"/>
            <a:ext cx="6686549" cy="1697086"/>
          </a:xfrm>
        </p:spPr>
        <p:txBody>
          <a:bodyPr anchor="b">
            <a:normAutofit/>
          </a:bodyPr>
          <a:lstStyle>
            <a:lvl1pPr>
              <a:defRPr sz="405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1910" y="3583035"/>
            <a:ext cx="6686549" cy="844712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3242858"/>
            <a:ext cx="1308489" cy="583942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3397155"/>
            <a:ext cx="584825" cy="273844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284630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4694" y="468082"/>
            <a:ext cx="6683765" cy="96066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1909" y="1600200"/>
            <a:ext cx="6686550" cy="283321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061977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1544063"/>
            <a:ext cx="6686549" cy="1101600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2647597"/>
            <a:ext cx="6686549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783183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1909" y="1600200"/>
            <a:ext cx="3235398" cy="28332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93060" y="1594666"/>
            <a:ext cx="3235398" cy="28332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590837"/>
            <a:ext cx="584825" cy="273844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640014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4530" y="1479527"/>
            <a:ext cx="299454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1909" y="1911725"/>
            <a:ext cx="3257170" cy="2515545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29972" y="1477106"/>
            <a:ext cx="2999251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75218" y="1909304"/>
            <a:ext cx="3254006" cy="2515545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590837"/>
            <a:ext cx="584825" cy="273844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010636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802676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058629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334566"/>
            <a:ext cx="2628899" cy="732234"/>
          </a:xfrm>
        </p:spPr>
        <p:txBody>
          <a:bodyPr anchor="b"/>
          <a:lstStyle>
            <a:lvl1pPr algn="l">
              <a:defRPr sz="15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2259" y="334567"/>
            <a:ext cx="3886200" cy="4061222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1198960"/>
            <a:ext cx="2628899" cy="319682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232540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3600450"/>
            <a:ext cx="668655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1909" y="476224"/>
            <a:ext cx="6686550" cy="2891228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4025504"/>
            <a:ext cx="6686550" cy="370284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998236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457200"/>
            <a:ext cx="6686549" cy="233778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3265535"/>
            <a:ext cx="6686549" cy="1166898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248978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7462" y="457200"/>
            <a:ext cx="6295445" cy="217170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56259" y="2628900"/>
            <a:ext cx="5652416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3265535"/>
            <a:ext cx="6686549" cy="1166898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850739" y="48600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6139" y="217898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1107897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1828800"/>
            <a:ext cx="6686550" cy="2043634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2578590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137462" y="457200"/>
            <a:ext cx="6295445" cy="217170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1909" y="3257550"/>
            <a:ext cx="6686550" cy="62865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1850739" y="48600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6139" y="217898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59105083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470555"/>
            <a:ext cx="6686549" cy="2160015"/>
          </a:xfrm>
        </p:spPr>
        <p:txBody>
          <a:bodyPr anchor="ctr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1909" y="3257550"/>
            <a:ext cx="6686550" cy="62865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295486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9114654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71109" y="470554"/>
            <a:ext cx="1655701" cy="3962863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1909" y="470554"/>
            <a:ext cx="4857750" cy="3962863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8339863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1657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171450"/>
            <a:ext cx="2138637" cy="4978971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0416" y="-589"/>
            <a:ext cx="1767506" cy="514052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4694" y="468082"/>
            <a:ext cx="6683765" cy="9606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09" y="1600200"/>
            <a:ext cx="6686550" cy="2914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1210" y="4597828"/>
            <a:ext cx="859712" cy="2777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1910" y="4601856"/>
            <a:ext cx="57149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398860" y="590837"/>
            <a:ext cx="58482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0">
                <a:solidFill>
                  <a:srgbClr val="FEFFFF"/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291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  <p:sldLayoutId id="2147483678" r:id="rId15"/>
    <p:sldLayoutId id="2147483679" r:id="rId16"/>
    <p:sldLayoutId id="2147483680" r:id="rId17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822960" y="10058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Obstacle Avoiding Car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F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Uno • Ultrasonic Sensor • Servo Motor • L298N • 2 DC </a:t>
            </a:r>
            <a:r>
              <a:rPr lang="en-US" sz="1600" dirty="0" smtClean="0">
                <a:solidFill>
                  <a:srgbClr val="9F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017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3832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Rana Taha (0622)   •   Hamza (0624)   •   Hammad (0606)   •   Allyan (0616)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54864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43000"/>
            <a:ext cx="80467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obstacle-avoiding car is a robot that drives by itself and never needs a remote or driver.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"sees" using an ultrasonic sensor, which works like a bat: it sends sound and measures the echo.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Arduino Uno is the brain: it reads the distance and decides whether to go forward, reverse or turn.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L298N driver is the muscle: it supplies enough current to the two DC motors that the Arduino pins cannot.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design a low-cost autonomous car that detects obstacles within 20 cm and finds a free path.</a:t>
            </a:r>
            <a:endParaRPr lang="en-US" sz="1700" dirty="0"/>
          </a:p>
        </p:txBody>
      </p:sp>
      <p:sp>
        <p:nvSpPr>
          <p:cNvPr id="6" name="Shape 1"/>
          <p:cNvSpPr/>
          <p:nvPr/>
        </p:nvSpPr>
        <p:spPr>
          <a:xfrm>
            <a:off x="133349" y="822960"/>
            <a:ext cx="9001125" cy="54864"/>
          </a:xfrm>
          <a:prstGeom prst="rect">
            <a:avLst/>
          </a:prstGeom>
          <a:solidFill>
            <a:srgbClr val="766F54"/>
          </a:solidFill>
          <a:ln/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Explained (1/2)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051560"/>
            <a:ext cx="2286000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Uno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3017520" y="1051560"/>
            <a:ext cx="5669280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Microcontroller that runs our program. It reads the sensor, controls the servo and sends HIGH/LOW signals to the motor driver.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392680"/>
            <a:ext cx="2286000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Ultrasonic Sensor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017520" y="2392680"/>
            <a:ext cx="5669280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two parts: TRIG sends a sound pulse (40 kHz) and ECHO receives its reflection. The time taken tells us the distance.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733800"/>
            <a:ext cx="2286000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Motor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017520" y="3733800"/>
            <a:ext cx="5669280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Rotates to an exact angle (0–180°). The sensor is mounted on it so the car can look right (15°), center (90°) and left (165°) without turning the body.</a:t>
            </a:r>
            <a:endParaRPr lang="en-US" sz="1300" dirty="0"/>
          </a:p>
        </p:txBody>
      </p:sp>
      <p:sp>
        <p:nvSpPr>
          <p:cNvPr id="14" name="Shape 1"/>
          <p:cNvSpPr/>
          <p:nvPr/>
        </p:nvSpPr>
        <p:spPr>
          <a:xfrm>
            <a:off x="133349" y="822960"/>
            <a:ext cx="9001125" cy="54864"/>
          </a:xfrm>
          <a:prstGeom prst="rect">
            <a:avLst/>
          </a:prstGeom>
          <a:solidFill>
            <a:srgbClr val="766F54"/>
          </a:solidFill>
          <a:ln/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Explained (2/2)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051560"/>
            <a:ext cx="2286000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L298N Motor Driver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3017520" y="1051560"/>
            <a:ext cx="5669280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H-bridge driver. IN1–IN4 inputs choose the direction of each motor; it supplies the higher current and voltage from the battery.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392680"/>
            <a:ext cx="2286000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DC Motors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017520" y="2392680"/>
            <a:ext cx="5669280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and right wheels. Both spinning forward = move ahead; spinning in opposite directions = the car turns on the spot.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733800"/>
            <a:ext cx="2286000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&amp; Chassis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017520" y="3733800"/>
            <a:ext cx="5669280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powers the motors through the L298N; the chassis holds everything. All grounds (GND) must be joined together.</a:t>
            </a:r>
            <a:endParaRPr lang="en-US" sz="1300" dirty="0"/>
          </a:p>
        </p:txBody>
      </p:sp>
      <p:sp>
        <p:nvSpPr>
          <p:cNvPr id="14" name="Shape 1"/>
          <p:cNvSpPr/>
          <p:nvPr/>
        </p:nvSpPr>
        <p:spPr>
          <a:xfrm>
            <a:off x="133349" y="822960"/>
            <a:ext cx="9001125" cy="54864"/>
          </a:xfrm>
          <a:prstGeom prst="rect">
            <a:avLst/>
          </a:prstGeom>
          <a:solidFill>
            <a:srgbClr val="766F54"/>
          </a:solidFill>
          <a:ln/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How the Ultrasonic Sensor Measures Distance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0515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3017520" y="105156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 pin is set LOW for 2 µs, then HIGH for 10 µs to send a sound burst.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0574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017520" y="205740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pulseIn(ECHO, HIGH, 30000) measures how long ECHO stays HIGH (the round-trip time in µs). It waits at most 30 ms.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0632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017520" y="306324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(cm) = duration × 0.034 / 2. Sound travels 0.034 cm per µs, and we divide by 2 because the sound goes to the object and back.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40690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echo?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017520" y="406908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duration is 0 (nothing detected), the function returns 100 cm, meaning the path is clear.</a:t>
            </a:r>
            <a:endParaRPr lang="en-US" sz="1300" dirty="0"/>
          </a:p>
        </p:txBody>
      </p:sp>
      <p:sp>
        <p:nvSpPr>
          <p:cNvPr id="17" name="Shape 1"/>
          <p:cNvSpPr/>
          <p:nvPr/>
        </p:nvSpPr>
        <p:spPr>
          <a:xfrm>
            <a:off x="133349" y="822960"/>
            <a:ext cx="9001125" cy="54864"/>
          </a:xfrm>
          <a:prstGeom prst="rect">
            <a:avLst/>
          </a:prstGeom>
          <a:solidFill>
            <a:srgbClr val="766F54"/>
          </a:solidFill>
          <a:ln/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Pin Connections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97280"/>
          <a:ext cx="7680960" cy="3218688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Arduino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Ultrasonic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Sends sound pulse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Ultrasonic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ECHO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Receives echo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L298N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 A direction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L298N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 A direction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L298N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 B direction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L298N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 B direction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Rotates the sensor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731520" y="45262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Servo/sensor get 5 V from Arduino; the L298N gets the battery. Join all GND together.</a:t>
            </a:r>
            <a:endParaRPr lang="en-US" sz="1200" dirty="0"/>
          </a:p>
        </p:txBody>
      </p:sp>
      <p:sp>
        <p:nvSpPr>
          <p:cNvPr id="9" name="Shape 1"/>
          <p:cNvSpPr/>
          <p:nvPr/>
        </p:nvSpPr>
        <p:spPr>
          <a:xfrm>
            <a:off x="133349" y="822960"/>
            <a:ext cx="9001125" cy="54864"/>
          </a:xfrm>
          <a:prstGeom prst="rect">
            <a:avLst/>
          </a:prstGeom>
          <a:solidFill>
            <a:srgbClr val="766F54"/>
          </a:solidFill>
          <a:ln/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Motor Logic Explained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2633472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Forward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motors forward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Backward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motors reverse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 Right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Motors opposite: spins right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 Left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Motors opposite: spins left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power to motors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39319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motor, HIGH/LOW = one direction, LOW/HIGH = the opposite direction, and LOW/LOW = stop. The code uses this in moveForward(), moveBackward(), turnRight(), turnLeft() and stopMotors().</a:t>
            </a:r>
            <a:endParaRPr lang="en-US" sz="1400" dirty="0"/>
          </a:p>
        </p:txBody>
      </p:sp>
      <p:sp>
        <p:nvSpPr>
          <p:cNvPr id="9" name="Shape 1"/>
          <p:cNvSpPr/>
          <p:nvPr/>
        </p:nvSpPr>
        <p:spPr>
          <a:xfrm>
            <a:off x="133349" y="822960"/>
            <a:ext cx="9001125" cy="54864"/>
          </a:xfrm>
          <a:prstGeom prst="rect">
            <a:avLst/>
          </a:prstGeom>
          <a:solidFill>
            <a:srgbClr val="766F54"/>
          </a:solidFill>
          <a:ln/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Working Principle (Step by Step)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051560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Look ahead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3017520" y="1051560"/>
            <a:ext cx="5669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is at 90°. The car keeps measuring the front distance and prints it on the Serial Monitor.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856232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Path clear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017520" y="1856232"/>
            <a:ext cx="5669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distance is 20 cm or more, moveForward() keeps the car running.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2660904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Obstacle found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017520" y="2660904"/>
            <a:ext cx="5669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0 &lt; distance &lt; 20 cm: stop for 300 ms, then reverse for 400 ms to make room.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3465576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Scan both sides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017520" y="3465576"/>
            <a:ext cx="5669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turns to 15° (right) then 165° (left) and reads each distance.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4270248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Decide &amp; turn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3017520" y="4270248"/>
            <a:ext cx="5669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returns to 90°. If right ≥ left the car turns right, otherwise left (500 ms), then goes forward again.</a:t>
            </a:r>
            <a:endParaRPr lang="en-US" sz="1200" dirty="0"/>
          </a:p>
        </p:txBody>
      </p:sp>
      <p:sp>
        <p:nvSpPr>
          <p:cNvPr id="20" name="Shape 1"/>
          <p:cNvSpPr/>
          <p:nvPr/>
        </p:nvSpPr>
        <p:spPr>
          <a:xfrm>
            <a:off x="133349" y="822960"/>
            <a:ext cx="9001125" cy="54864"/>
          </a:xfrm>
          <a:prstGeom prst="rect">
            <a:avLst/>
          </a:prstGeom>
          <a:solidFill>
            <a:srgbClr val="766F54"/>
          </a:solidFill>
          <a:ln/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Code Explained: Setup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0515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#define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3017520" y="105156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every pin (TRIG 10, ECHO 11, IN1–IN4 = 4–7, SERVO 9) and sets OBSTACLE_DISTANCE to 20 cm so it is easy to change.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0574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library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017520" y="205740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#include &lt;Servo.h&gt; and Servo servoMotor; create the servo object used to control angles.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0632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setup()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017520" y="306324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Serial at 9600 baud, sets TRIG and IN1–IN4 as OUTPUT, ECHO as INPUT, attaches the servo and centers it at 90°.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40690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delay(2000)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017520" y="406908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Waits 2 seconds so the car is stable before it starts moving.</a:t>
            </a:r>
            <a:endParaRPr lang="en-US" sz="1300" dirty="0"/>
          </a:p>
        </p:txBody>
      </p:sp>
      <p:sp>
        <p:nvSpPr>
          <p:cNvPr id="17" name="Shape 1"/>
          <p:cNvSpPr/>
          <p:nvPr/>
        </p:nvSpPr>
        <p:spPr>
          <a:xfrm>
            <a:off x="133349" y="822960"/>
            <a:ext cx="9001125" cy="54864"/>
          </a:xfrm>
          <a:prstGeom prst="rect">
            <a:avLst/>
          </a:prstGeom>
          <a:solidFill>
            <a:srgbClr val="766F54"/>
          </a:solidFill>
          <a:ln/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Code Explained: Main Loop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051560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distance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3017520" y="1051560"/>
            <a:ext cx="5669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distance = getDistance(); then print it with Serial.print.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856232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obstacle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017520" y="1856232"/>
            <a:ext cx="5669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(distance &gt; 0 &amp;&amp; distance &lt; 20): stopMotors → delay → moveBackward → stopMotors. The distance &gt; 0 check ignores wrong readings.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2660904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sides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017520" y="2660904"/>
            <a:ext cx="5669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distanceRight = lookRight(); distanceLeft = lookLeft(); servo is set back to 90°.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3465576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turn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017520" y="3465576"/>
            <a:ext cx="5669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(distanceRight &gt;= distanceLeft) turnRight(); else turnLeft(); each turn lasts 500 ms and then the motors stop.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4270248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3017520" y="4270248"/>
            <a:ext cx="5669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 obstacle, moveForward() runs. A 50 ms delay at the end keeps readings stable.</a:t>
            </a:r>
            <a:endParaRPr lang="en-US" sz="1200" dirty="0"/>
          </a:p>
        </p:txBody>
      </p:sp>
      <p:sp>
        <p:nvSpPr>
          <p:cNvPr id="20" name="Shape 1"/>
          <p:cNvSpPr/>
          <p:nvPr/>
        </p:nvSpPr>
        <p:spPr>
          <a:xfrm>
            <a:off x="133349" y="822960"/>
            <a:ext cx="9001125" cy="54864"/>
          </a:xfrm>
          <a:prstGeom prst="rect">
            <a:avLst/>
          </a:prstGeom>
          <a:solidFill>
            <a:srgbClr val="766F54"/>
          </a:solidFill>
          <a:ln/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Code Explained: Functions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0515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getDistance()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3017520" y="105156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the sensor, reads the echo time and returns the distance in cm (100 if timed out).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0574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lookRight()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017520" y="205740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servoMotor.write(15), wait 500 ms for the servo to reach it, then returns getDistance().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0632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lookLeft()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017520" y="306324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servoMotor.write(165), wait 500 ms, then returns getDistance().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40690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functions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017520" y="406908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uses digitalWrite on IN1–IN4 to set forward, backward, left, right or stop.</a:t>
            </a:r>
            <a:endParaRPr lang="en-US" sz="1300" dirty="0"/>
          </a:p>
        </p:txBody>
      </p:sp>
      <p:sp>
        <p:nvSpPr>
          <p:cNvPr id="17" name="Shape 1"/>
          <p:cNvSpPr/>
          <p:nvPr/>
        </p:nvSpPr>
        <p:spPr>
          <a:xfrm>
            <a:off x="133349" y="822960"/>
            <a:ext cx="9001125" cy="54864"/>
          </a:xfrm>
          <a:prstGeom prst="rect">
            <a:avLst/>
          </a:prstGeom>
          <a:solidFill>
            <a:srgbClr val="766F54"/>
          </a:solidFill>
          <a:ln/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8229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45920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3394333" y="2230734"/>
            <a:ext cx="18609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10</TotalTime>
  <Words>1025</Words>
  <Application>Microsoft Office PowerPoint</Application>
  <PresentationFormat>On-screen Show (16:9)</PresentationFormat>
  <Paragraphs>158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Century Gothic</vt:lpstr>
      <vt:lpstr>Wingdings 3</vt:lpstr>
      <vt:lpstr>Wisp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Obstacle Avoiding Car - Detailed</dc:title>
  <dc:subject>PptxGenJS Presentation</dc:subject>
  <dc:creator>PptxGenJS</dc:creator>
  <cp:lastModifiedBy>Rana Taha</cp:lastModifiedBy>
  <cp:revision>3</cp:revision>
  <dcterms:created xsi:type="dcterms:W3CDTF">2026-10-05T14:51:55Z</dcterms:created>
  <dcterms:modified xsi:type="dcterms:W3CDTF">2026-10-05T15:10:14Z</dcterms:modified>
</cp:coreProperties>
</file>